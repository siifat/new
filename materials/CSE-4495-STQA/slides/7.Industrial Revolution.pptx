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2.jpg" ContentType="image/jpeg"/>
  <Override PartName="/ppt/media/image3.jpg" ContentType="image/jpeg"/>
  <Override PartName="/ppt/media/image4.jpg" ContentType="image/jpeg"/>
  <Override PartName="/ppt/media/image5.jpg" ContentType="image/jpeg"/>
  <Override PartName="/ppt/media/image6.jpg" ContentType="image/jpeg"/>
  <Override PartName="/ppt/media/image7.jpg" ContentType="image/jpeg"/>
  <Override PartName="/ppt/media/image8.jpg" ContentType="image/jpeg"/>
  <Override PartName="/ppt/media/image9.jpg" ContentType="image/jpeg"/>
  <Override PartName="/ppt/media/image10.jpg" ContentType="image/jpeg"/>
  <Override PartName="/ppt/media/image12.jpg" ContentType="image/jpeg"/>
  <Override PartName="/ppt/media/image13.jpg" ContentType="image/jpeg"/>
  <Override PartName="/ppt/media/image14.jpg" ContentType="image/jpeg"/>
  <Override PartName="/ppt/media/image15.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75" r:id="rId7"/>
    <p:sldId id="262" r:id="rId8"/>
    <p:sldId id="276" r:id="rId9"/>
    <p:sldId id="263" r:id="rId10"/>
    <p:sldId id="265" r:id="rId11"/>
    <p:sldId id="266" r:id="rId12"/>
    <p:sldId id="278" r:id="rId13"/>
    <p:sldId id="279" r:id="rId14"/>
    <p:sldId id="277" r:id="rId15"/>
    <p:sldId id="267" r:id="rId16"/>
    <p:sldId id="268" r:id="rId17"/>
    <p:sldId id="269" r:id="rId18"/>
    <p:sldId id="270" r:id="rId19"/>
    <p:sldId id="273" r:id="rId20"/>
    <p:sldId id="271" r:id="rId21"/>
    <p:sldId id="272"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71" d="100"/>
          <a:sy n="71"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6/23/2024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30311" y="1038577"/>
            <a:ext cx="4594578" cy="2630312"/>
          </a:xfrm>
        </p:spPr>
        <p:txBody>
          <a:bodyPr>
            <a:normAutofit/>
          </a:bodyPr>
          <a:lstStyle/>
          <a:p>
            <a:r>
              <a:rPr lang="en-US" dirty="0"/>
              <a:t>Industrial Revolution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3533" y="1332089"/>
            <a:ext cx="3330222" cy="3979012"/>
          </a:xfrm>
          <a:prstGeom prst="rect">
            <a:avLst/>
          </a:prstGeom>
        </p:spPr>
      </p:pic>
    </p:spTree>
    <p:extLst>
      <p:ext uri="{BB962C8B-B14F-4D97-AF65-F5344CB8AC3E}">
        <p14:creationId xmlns:p14="http://schemas.microsoft.com/office/powerpoint/2010/main" val="4221085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First industrial Revolution: Coal in 1765</a:t>
            </a:r>
          </a:p>
        </p:txBody>
      </p:sp>
      <p:sp>
        <p:nvSpPr>
          <p:cNvPr id="3" name="Content Placeholder 2"/>
          <p:cNvSpPr>
            <a:spLocks noGrp="1"/>
          </p:cNvSpPr>
          <p:nvPr>
            <p:ph idx="1"/>
          </p:nvPr>
        </p:nvSpPr>
        <p:spPr>
          <a:xfrm>
            <a:off x="1594624" y="1382751"/>
            <a:ext cx="7114478" cy="5040351"/>
          </a:xfrm>
        </p:spPr>
        <p:txBody>
          <a:bodyPr>
            <a:noAutofit/>
          </a:bodyPr>
          <a:lstStyle/>
          <a:p>
            <a:pPr>
              <a:buFont typeface="Wingdings" panose="05000000000000000000" pitchFamily="2" charset="2"/>
              <a:buChar char="v"/>
            </a:pPr>
            <a:r>
              <a:rPr lang="en-US" sz="2400" dirty="0"/>
              <a:t>Transformed  economy from agriculture to industry.</a:t>
            </a:r>
          </a:p>
          <a:p>
            <a:pPr>
              <a:buFont typeface="Wingdings" panose="05000000000000000000" pitchFamily="2" charset="2"/>
              <a:buChar char="v"/>
            </a:pPr>
            <a:r>
              <a:rPr lang="en-US" sz="2400" dirty="0"/>
              <a:t>the discovery of coal and its mass extraction</a:t>
            </a:r>
          </a:p>
          <a:p>
            <a:pPr>
              <a:buFont typeface="Wingdings" panose="05000000000000000000" pitchFamily="2" charset="2"/>
              <a:buChar char="v"/>
            </a:pPr>
            <a:r>
              <a:rPr lang="en-US" sz="2400" dirty="0"/>
              <a:t> the development of the steam engine and metal forging</a:t>
            </a:r>
          </a:p>
          <a:p>
            <a:pPr>
              <a:buFont typeface="Wingdings" panose="05000000000000000000" pitchFamily="2" charset="2"/>
              <a:buChar char="v"/>
            </a:pPr>
            <a:r>
              <a:rPr lang="en-US" sz="2400" dirty="0"/>
              <a:t>Invention of spinning machines and looms to make fabric were making their appearance. </a:t>
            </a:r>
          </a:p>
          <a:p>
            <a:pPr>
              <a:buFont typeface="Wingdings" panose="05000000000000000000" pitchFamily="2" charset="2"/>
              <a:buChar char="v"/>
            </a:pPr>
            <a:r>
              <a:rPr lang="en-US" sz="2400" dirty="0"/>
              <a:t>Canal transportation began replacing wagon and mules for moving around these goods.</a:t>
            </a:r>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2917" y="1527717"/>
            <a:ext cx="3122342" cy="4383505"/>
          </a:xfrm>
          <a:prstGeom prst="rect">
            <a:avLst/>
          </a:prstGeom>
        </p:spPr>
      </p:pic>
    </p:spTree>
    <p:extLst>
      <p:ext uri="{BB962C8B-B14F-4D97-AF65-F5344CB8AC3E}">
        <p14:creationId xmlns:p14="http://schemas.microsoft.com/office/powerpoint/2010/main" val="2139166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Second Industrial Revolution: Gas in 1870</a:t>
            </a:r>
          </a:p>
        </p:txBody>
      </p:sp>
      <p:sp>
        <p:nvSpPr>
          <p:cNvPr id="3" name="Content Placeholder 2"/>
          <p:cNvSpPr>
            <a:spLocks noGrp="1"/>
          </p:cNvSpPr>
          <p:nvPr>
            <p:ph idx="1"/>
          </p:nvPr>
        </p:nvSpPr>
        <p:spPr>
          <a:xfrm>
            <a:off x="1641359" y="2133600"/>
            <a:ext cx="6432124" cy="3777622"/>
          </a:xfrm>
        </p:spPr>
        <p:txBody>
          <a:bodyPr>
            <a:noAutofit/>
          </a:bodyPr>
          <a:lstStyle/>
          <a:p>
            <a:pPr algn="just" fontAlgn="base">
              <a:buFont typeface="Wingdings" panose="05000000000000000000" pitchFamily="2" charset="2"/>
              <a:buChar char="v"/>
            </a:pPr>
            <a:r>
              <a:rPr lang="en-US" sz="2400" dirty="0"/>
              <a:t> The discovery of electricity, gas and oil. The invention of the combustion engine went hand-in-hand with these fuel sources. </a:t>
            </a:r>
          </a:p>
          <a:p>
            <a:pPr algn="just" fontAlgn="base">
              <a:buFont typeface="Wingdings" panose="05000000000000000000" pitchFamily="2" charset="2"/>
              <a:buChar char="v"/>
            </a:pPr>
            <a:r>
              <a:rPr lang="en-US" sz="2400" dirty="0"/>
              <a:t>steel- and chemically based products </a:t>
            </a:r>
          </a:p>
          <a:p>
            <a:pPr algn="just" fontAlgn="base">
              <a:buFont typeface="Wingdings" panose="05000000000000000000" pitchFamily="2" charset="2"/>
              <a:buChar char="v"/>
            </a:pPr>
            <a:r>
              <a:rPr lang="en-US" sz="2400" dirty="0"/>
              <a:t>It was based on the distribution of electricity.</a:t>
            </a:r>
          </a:p>
          <a:p>
            <a:pPr algn="just" fontAlgn="base">
              <a:buFont typeface="Wingdings" panose="05000000000000000000" pitchFamily="2" charset="2"/>
              <a:buChar char="v"/>
            </a:pPr>
            <a:r>
              <a:rPr lang="en-US" sz="2400" dirty="0"/>
              <a:t>Developments in communication technology got a jump start with the telegraph and later the telephone.</a:t>
            </a:r>
            <a:endParaRPr lang="en-US" sz="2400" b="1" dirty="0"/>
          </a:p>
          <a:p>
            <a:pPr marL="0" indent="0" algn="just" fontAlgn="base">
              <a:buNone/>
            </a:pPr>
            <a:endParaRPr lang="en-US" sz="24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8317" y="2336486"/>
            <a:ext cx="3396941" cy="2971494"/>
          </a:xfrm>
          <a:prstGeom prst="rect">
            <a:avLst/>
          </a:prstGeom>
        </p:spPr>
      </p:pic>
    </p:spTree>
    <p:extLst>
      <p:ext uri="{BB962C8B-B14F-4D97-AF65-F5344CB8AC3E}">
        <p14:creationId xmlns:p14="http://schemas.microsoft.com/office/powerpoint/2010/main" val="646860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Third Industrial Revolution: Electronics and Nuclear in 1969</a:t>
            </a:r>
          </a:p>
        </p:txBody>
      </p:sp>
      <p:sp>
        <p:nvSpPr>
          <p:cNvPr id="3" name="Content Placeholder 2"/>
          <p:cNvSpPr>
            <a:spLocks noGrp="1"/>
          </p:cNvSpPr>
          <p:nvPr>
            <p:ph idx="1"/>
          </p:nvPr>
        </p:nvSpPr>
        <p:spPr>
          <a:xfrm>
            <a:off x="2589212" y="2133600"/>
            <a:ext cx="5261247" cy="3777622"/>
          </a:xfrm>
        </p:spPr>
        <p:txBody>
          <a:bodyPr>
            <a:normAutofit fontScale="85000" lnSpcReduction="20000"/>
          </a:bodyPr>
          <a:lstStyle/>
          <a:p>
            <a:pPr algn="just" fontAlgn="base"/>
            <a:r>
              <a:rPr lang="en-US" sz="2800" dirty="0"/>
              <a:t>Nuclear energy and electronics enter the landscape. </a:t>
            </a:r>
          </a:p>
          <a:p>
            <a:pPr algn="just" fontAlgn="base"/>
            <a:r>
              <a:rPr lang="en-US" sz="2800" dirty="0"/>
              <a:t>The development of computers, including personal computers (PCs), the “digital” transition.</a:t>
            </a:r>
          </a:p>
          <a:p>
            <a:pPr algn="just" fontAlgn="base"/>
            <a:r>
              <a:rPr lang="en-US" sz="2800" dirty="0"/>
              <a:t>Nuclear power began in Europe, grew in both Great Britain and the United States, went into remission for years, and grew in Asia.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2263" y="2237676"/>
            <a:ext cx="3579542" cy="3810000"/>
          </a:xfrm>
          <a:prstGeom prst="rect">
            <a:avLst/>
          </a:prstGeom>
        </p:spPr>
      </p:pic>
    </p:spTree>
    <p:extLst>
      <p:ext uri="{BB962C8B-B14F-4D97-AF65-F5344CB8AC3E}">
        <p14:creationId xmlns:p14="http://schemas.microsoft.com/office/powerpoint/2010/main" val="75697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Fourth Industrial Revolution: Internet and Renewable Energy in 2000</a:t>
            </a:r>
          </a:p>
        </p:txBody>
      </p:sp>
      <p:sp>
        <p:nvSpPr>
          <p:cNvPr id="3" name="Content Placeholder 2"/>
          <p:cNvSpPr>
            <a:spLocks noGrp="1"/>
          </p:cNvSpPr>
          <p:nvPr>
            <p:ph idx="1"/>
          </p:nvPr>
        </p:nvSpPr>
        <p:spPr>
          <a:xfrm>
            <a:off x="1998131" y="2133600"/>
            <a:ext cx="6752689" cy="3777622"/>
          </a:xfrm>
        </p:spPr>
        <p:txBody>
          <a:bodyPr>
            <a:normAutofit/>
          </a:bodyPr>
          <a:lstStyle/>
          <a:p>
            <a:pPr algn="just" fontAlgn="base"/>
            <a:r>
              <a:rPr lang="en-US" dirty="0"/>
              <a:t>Renewable energy such as solar, wind and geothermal.</a:t>
            </a:r>
          </a:p>
          <a:p>
            <a:pPr algn="just" fontAlgn="base"/>
            <a:r>
              <a:rPr lang="en-US" dirty="0"/>
              <a:t>The fourth Industrial Revolution is moving from an electronic based industry to a process which is the combination of human beings and electronics.</a:t>
            </a:r>
          </a:p>
          <a:p>
            <a:pPr algn="just" fontAlgn="base"/>
            <a:r>
              <a:rPr lang="en-US" dirty="0"/>
              <a:t> It includes cyber-physical systems, the Internet of things, big data analytics, cloud computing, cognitive computing, artificial intelligence, 3-D printing, and autonomous vehicles etc. </a:t>
            </a:r>
          </a:p>
          <a:p>
            <a:pPr algn="just" fontAlgn="base"/>
            <a:r>
              <a:rPr lang="en-US" dirty="0"/>
              <a:t>The best example would be processed artificial intelligence has broken the distinction between the Man, The Machine and Intelligence.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7889" y="2063046"/>
            <a:ext cx="3113800" cy="3689350"/>
          </a:xfrm>
          <a:prstGeom prst="rect">
            <a:avLst/>
          </a:prstGeom>
        </p:spPr>
      </p:pic>
    </p:spTree>
    <p:extLst>
      <p:ext uri="{BB962C8B-B14F-4D97-AF65-F5344CB8AC3E}">
        <p14:creationId xmlns:p14="http://schemas.microsoft.com/office/powerpoint/2010/main" val="142790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78BD-EC61-97DA-F101-1583246F76EE}"/>
              </a:ext>
            </a:extLst>
          </p:cNvPr>
          <p:cNvSpPr>
            <a:spLocks noGrp="1"/>
          </p:cNvSpPr>
          <p:nvPr>
            <p:ph type="title"/>
          </p:nvPr>
        </p:nvSpPr>
        <p:spPr/>
        <p:txBody>
          <a:bodyPr/>
          <a:lstStyle/>
          <a:p>
            <a:pPr algn="ctr"/>
            <a:r>
              <a:rPr lang="en-US" dirty="0"/>
              <a:t>Fifth Industrial Revolution</a:t>
            </a:r>
          </a:p>
        </p:txBody>
      </p:sp>
      <p:sp>
        <p:nvSpPr>
          <p:cNvPr id="3" name="Content Placeholder 2">
            <a:extLst>
              <a:ext uri="{FF2B5EF4-FFF2-40B4-BE49-F238E27FC236}">
                <a16:creationId xmlns:a16="http://schemas.microsoft.com/office/drawing/2014/main" id="{0BBCFF98-DCB3-97CA-04BE-C0748B769E88}"/>
              </a:ext>
            </a:extLst>
          </p:cNvPr>
          <p:cNvSpPr>
            <a:spLocks noGrp="1"/>
          </p:cNvSpPr>
          <p:nvPr>
            <p:ph idx="1"/>
          </p:nvPr>
        </p:nvSpPr>
        <p:spPr/>
        <p:txBody>
          <a:bodyPr/>
          <a:lstStyle/>
          <a:p>
            <a:pPr algn="just"/>
            <a:r>
              <a:rPr lang="en-US" dirty="0">
                <a:solidFill>
                  <a:srgbClr val="222222"/>
                </a:solidFill>
                <a:latin typeface="+mj-lt"/>
              </a:rPr>
              <a:t>P</a:t>
            </a:r>
            <a:r>
              <a:rPr lang="en-US" b="0" i="0" dirty="0">
                <a:solidFill>
                  <a:srgbClr val="222222"/>
                </a:solidFill>
                <a:effectLst/>
                <a:latin typeface="+mj-lt"/>
              </a:rPr>
              <a:t>erceives individuals as partners at work in manufacturing and production organizations.</a:t>
            </a:r>
          </a:p>
          <a:p>
            <a:pPr algn="just"/>
            <a:r>
              <a:rPr lang="en-US" b="0" i="0" dirty="0">
                <a:solidFill>
                  <a:srgbClr val="222222"/>
                </a:solidFill>
                <a:effectLst/>
                <a:latin typeface="+mj-lt"/>
              </a:rPr>
              <a:t>the fifth industrial revolution will see robots given tasks and decision-making capabilities, primarily aiming to improve quality and production processes.</a:t>
            </a:r>
            <a:r>
              <a:rPr lang="en-US" dirty="0">
                <a:solidFill>
                  <a:srgbClr val="222222"/>
                </a:solidFill>
                <a:latin typeface="+mj-lt"/>
              </a:rPr>
              <a:t> </a:t>
            </a:r>
          </a:p>
          <a:p>
            <a:pPr algn="just"/>
            <a:r>
              <a:rPr lang="en-US" b="0" i="0" dirty="0">
                <a:solidFill>
                  <a:srgbClr val="222222"/>
                </a:solidFill>
                <a:effectLst/>
                <a:latin typeface="+mj-lt"/>
              </a:rPr>
              <a:t>the fifth industrial revolution will facilitate human well-being. For example, </a:t>
            </a:r>
            <a:r>
              <a:rPr lang="en-US" b="0" i="0" dirty="0" err="1">
                <a:solidFill>
                  <a:srgbClr val="222222"/>
                </a:solidFill>
                <a:effectLst/>
                <a:latin typeface="+mj-lt"/>
              </a:rPr>
              <a:t>cobots</a:t>
            </a:r>
            <a:r>
              <a:rPr lang="en-US" b="0" i="0" dirty="0">
                <a:solidFill>
                  <a:srgbClr val="222222"/>
                </a:solidFill>
                <a:effectLst/>
                <a:latin typeface="+mj-lt"/>
              </a:rPr>
              <a:t> will be the main actors in the essence of Industry 5.0 when it comes to standard tasks such as data mining and drilling, while workers will perform more complex tasks. </a:t>
            </a:r>
          </a:p>
          <a:p>
            <a:pPr algn="just"/>
            <a:r>
              <a:rPr lang="en-US" b="0" i="0" dirty="0">
                <a:solidFill>
                  <a:srgbClr val="333333"/>
                </a:solidFill>
                <a:effectLst/>
                <a:latin typeface="+mj-lt"/>
              </a:rPr>
              <a:t>the European Commission has announced “Industry 5.0,” which aims for an ideal industry based on the concepts of “sustainability,” “human-centeredness,” </a:t>
            </a:r>
            <a:r>
              <a:rPr lang="en-US" dirty="0">
                <a:solidFill>
                  <a:srgbClr val="222222"/>
                </a:solidFill>
                <a:latin typeface="+mj-lt"/>
              </a:rPr>
              <a:t>. </a:t>
            </a:r>
            <a:endParaRPr lang="en-US" dirty="0">
              <a:latin typeface="+mj-lt"/>
            </a:endParaRPr>
          </a:p>
        </p:txBody>
      </p:sp>
    </p:spTree>
    <p:extLst>
      <p:ext uri="{BB962C8B-B14F-4D97-AF65-F5344CB8AC3E}">
        <p14:creationId xmlns:p14="http://schemas.microsoft.com/office/powerpoint/2010/main" val="359186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2163336"/>
            <a:ext cx="5174166" cy="3456878"/>
          </a:xfrm>
        </p:spPr>
        <p:txBody>
          <a:bodyPr>
            <a:noAutofit/>
          </a:bodyPr>
          <a:lstStyle/>
          <a:p>
            <a:pPr algn="just"/>
            <a:r>
              <a:rPr lang="en-US" sz="2800" b="0" i="1" u="none" strike="noStrike" baseline="0" dirty="0">
                <a:latin typeface="Hiroshige-BookItalic"/>
              </a:rPr>
              <a:t>During the Industrial Revolution, Europe experienced a shift from a traditional, labor-intensive economy based on farming and handicrafts to a more capital-intensive economy based on manufacturing by machines, specialized labor, and industrial factories.</a:t>
            </a:r>
            <a:endParaRPr lang="en-US" sz="2800" dirty="0"/>
          </a:p>
        </p:txBody>
      </p:sp>
      <p:sp>
        <p:nvSpPr>
          <p:cNvPr id="4" name="Content Placeholder 2"/>
          <p:cNvSpPr txBox="1">
            <a:spLocks/>
          </p:cNvSpPr>
          <p:nvPr/>
        </p:nvSpPr>
        <p:spPr>
          <a:xfrm>
            <a:off x="1929167" y="880947"/>
            <a:ext cx="3776307"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Transformation of society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505" y="2386361"/>
            <a:ext cx="4072397" cy="3088888"/>
          </a:xfrm>
          <a:prstGeom prst="rect">
            <a:avLst/>
          </a:prstGeom>
        </p:spPr>
      </p:pic>
    </p:spTree>
    <p:extLst>
      <p:ext uri="{BB962C8B-B14F-4D97-AF65-F5344CB8AC3E}">
        <p14:creationId xmlns:p14="http://schemas.microsoft.com/office/powerpoint/2010/main" val="2051372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2163336"/>
            <a:ext cx="5174166" cy="3456878"/>
          </a:xfrm>
        </p:spPr>
        <p:txBody>
          <a:bodyPr>
            <a:normAutofit/>
          </a:bodyPr>
          <a:lstStyle/>
          <a:p>
            <a:pPr algn="just" fontAlgn="base"/>
            <a:r>
              <a:rPr lang="en-US" sz="2400" dirty="0"/>
              <a:t>The factory system introduced by the Industrial Revolution created cities and urban centers. </a:t>
            </a:r>
          </a:p>
          <a:p>
            <a:pPr algn="just" fontAlgn="base"/>
            <a:endParaRPr lang="en-US" sz="2400" dirty="0"/>
          </a:p>
          <a:p>
            <a:pPr algn="just" fontAlgn="base"/>
            <a:r>
              <a:rPr lang="en-US" sz="2400" dirty="0"/>
              <a:t>In England, cities like Manchester, Birmingham, Leeds, and Sheffield arose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sz="2000" b="1" dirty="0"/>
          </a:p>
          <a:p>
            <a:pPr marL="0" indent="0" algn="ctr" fontAlgn="base">
              <a:buNone/>
            </a:pPr>
            <a:r>
              <a:rPr lang="en-US" sz="2000" b="1" dirty="0"/>
              <a:t>Urbanization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505" y="2386361"/>
            <a:ext cx="4072397" cy="3088888"/>
          </a:xfrm>
          <a:prstGeom prst="rect">
            <a:avLst/>
          </a:prstGeom>
        </p:spPr>
      </p:pic>
    </p:spTree>
    <p:extLst>
      <p:ext uri="{BB962C8B-B14F-4D97-AF65-F5344CB8AC3E}">
        <p14:creationId xmlns:p14="http://schemas.microsoft.com/office/powerpoint/2010/main" val="3272224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3010826"/>
            <a:ext cx="5174166" cy="3848246"/>
          </a:xfrm>
        </p:spPr>
        <p:txBody>
          <a:bodyPr>
            <a:normAutofit/>
          </a:bodyPr>
          <a:lstStyle/>
          <a:p>
            <a:pPr algn="just" fontAlgn="base"/>
            <a:r>
              <a:rPr lang="en-US" sz="2800" b="1" dirty="0"/>
              <a:t> </a:t>
            </a:r>
            <a:r>
              <a:rPr lang="en-US" sz="2800" dirty="0"/>
              <a:t>The introduction of power machinery rapidly increased production of goods.</a:t>
            </a:r>
          </a:p>
        </p:txBody>
      </p:sp>
      <p:sp>
        <p:nvSpPr>
          <p:cNvPr id="4" name="Content Placeholder 2"/>
          <p:cNvSpPr txBox="1">
            <a:spLocks/>
          </p:cNvSpPr>
          <p:nvPr/>
        </p:nvSpPr>
        <p:spPr>
          <a:xfrm>
            <a:off x="1929167" y="880947"/>
            <a:ext cx="2910462" cy="119318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4000" b="1" dirty="0"/>
              <a:t>Machinery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2172" y="2832410"/>
            <a:ext cx="4387308" cy="2924872"/>
          </a:xfrm>
          <a:prstGeom prst="rect">
            <a:avLst/>
          </a:prstGeom>
        </p:spPr>
      </p:pic>
    </p:spTree>
    <p:extLst>
      <p:ext uri="{BB962C8B-B14F-4D97-AF65-F5344CB8AC3E}">
        <p14:creationId xmlns:p14="http://schemas.microsoft.com/office/powerpoint/2010/main" val="1689565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Impact of Industrial Revolution on Society</a:t>
            </a:r>
          </a:p>
        </p:txBody>
      </p:sp>
      <p:sp>
        <p:nvSpPr>
          <p:cNvPr id="3" name="Content Placeholder 2"/>
          <p:cNvSpPr>
            <a:spLocks noGrp="1"/>
          </p:cNvSpPr>
          <p:nvPr>
            <p:ph idx="1"/>
          </p:nvPr>
        </p:nvSpPr>
        <p:spPr>
          <a:xfrm>
            <a:off x="1282394" y="3010826"/>
            <a:ext cx="5174166" cy="3848246"/>
          </a:xfrm>
        </p:spPr>
        <p:txBody>
          <a:bodyPr>
            <a:normAutofit/>
          </a:bodyPr>
          <a:lstStyle/>
          <a:p>
            <a:pPr algn="just" fontAlgn="base"/>
            <a:r>
              <a:rPr lang="en-US" sz="3600" dirty="0"/>
              <a:t>The starting of new industries provided employment to many men and women.</a:t>
            </a:r>
          </a:p>
        </p:txBody>
      </p:sp>
      <p:sp>
        <p:nvSpPr>
          <p:cNvPr id="4" name="Content Placeholder 2"/>
          <p:cNvSpPr txBox="1">
            <a:spLocks/>
          </p:cNvSpPr>
          <p:nvPr/>
        </p:nvSpPr>
        <p:spPr>
          <a:xfrm>
            <a:off x="1929168" y="880947"/>
            <a:ext cx="3010822"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3600" b="1" dirty="0"/>
              <a:t>Employment</a:t>
            </a:r>
          </a:p>
        </p:txBody>
      </p:sp>
    </p:spTree>
    <p:extLst>
      <p:ext uri="{BB962C8B-B14F-4D97-AF65-F5344CB8AC3E}">
        <p14:creationId xmlns:p14="http://schemas.microsoft.com/office/powerpoint/2010/main" val="413052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1940315"/>
            <a:ext cx="6768786" cy="4003288"/>
          </a:xfrm>
        </p:spPr>
        <p:txBody>
          <a:bodyPr>
            <a:noAutofit/>
          </a:bodyPr>
          <a:lstStyle/>
          <a:p>
            <a:pPr algn="just" fontAlgn="base"/>
            <a:r>
              <a:rPr lang="en-US" sz="2400" dirty="0"/>
              <a:t>The rapid growth of industrial cities created problems that were difficult to solve . </a:t>
            </a:r>
          </a:p>
          <a:p>
            <a:pPr algn="just" fontAlgn="base"/>
            <a:endParaRPr lang="en-US" sz="2400" dirty="0"/>
          </a:p>
          <a:p>
            <a:pPr marL="0" indent="0" algn="just" fontAlgn="base">
              <a:buNone/>
            </a:pPr>
            <a:endParaRPr lang="en-US" sz="2400" dirty="0"/>
          </a:p>
          <a:p>
            <a:pPr algn="just" fontAlgn="base"/>
            <a:r>
              <a:rPr lang="en-US" sz="2400" dirty="0"/>
              <a:t>Hazardous working condition. </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New Social Problems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0014" y="2174487"/>
            <a:ext cx="3294785" cy="3189249"/>
          </a:xfrm>
          <a:prstGeom prst="rect">
            <a:avLst/>
          </a:prstGeom>
        </p:spPr>
      </p:pic>
    </p:spTree>
    <p:extLst>
      <p:ext uri="{BB962C8B-B14F-4D97-AF65-F5344CB8AC3E}">
        <p14:creationId xmlns:p14="http://schemas.microsoft.com/office/powerpoint/2010/main" val="4208315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3" y="1940315"/>
            <a:ext cx="10500031" cy="4003288"/>
          </a:xfrm>
        </p:spPr>
        <p:txBody>
          <a:bodyPr>
            <a:noAutofit/>
          </a:bodyPr>
          <a:lstStyle/>
          <a:p>
            <a:pPr algn="just" fontAlgn="base"/>
            <a:r>
              <a:rPr lang="en-US" sz="2400" dirty="0"/>
              <a:t>Unquestionably, in the early decades of the Industrial Revolution, “places of work,” as early factories were called, were dreadful. Work hours ranged from twelve to sixteen hours a day, six days a week, with a half hour for lunch and dinner. There was no security of employment and no minimum wage. The worst conditions were in the cotton mills where temperatures were especially debilitating. One report noted that “in the cotton-spinning work, these creatures are kept, fourteen hours in each day, locked up, summer and winter, in a heat of from eighty to eighty-four degrees.”</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Working condition</a:t>
            </a:r>
          </a:p>
        </p:txBody>
      </p:sp>
    </p:spTree>
    <p:extLst>
      <p:ext uri="{BB962C8B-B14F-4D97-AF65-F5344CB8AC3E}">
        <p14:creationId xmlns:p14="http://schemas.microsoft.com/office/powerpoint/2010/main" val="1467823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3" y="1940315"/>
            <a:ext cx="8109257" cy="4003288"/>
          </a:xfrm>
        </p:spPr>
        <p:txBody>
          <a:bodyPr>
            <a:noAutofit/>
          </a:bodyPr>
          <a:lstStyle/>
          <a:p>
            <a:pPr algn="just" fontAlgn="base"/>
            <a:r>
              <a:rPr lang="en-US" sz="2400" dirty="0"/>
              <a:t>Women and children were employed for cheap labor. They worked for 12 to 14 hours per day. </a:t>
            </a:r>
          </a:p>
          <a:p>
            <a:pPr algn="just" fontAlgn="base"/>
            <a:r>
              <a:rPr lang="en-US" sz="2400" dirty="0"/>
              <a:t>Child labor was exploited more than ever and in a considerably more systematic manner. The owners of cotton factories appreciated certain features of child labor. </a:t>
            </a:r>
            <a:r>
              <a:rPr lang="en-US" sz="2400" dirty="0" err="1"/>
              <a:t>E.g</a:t>
            </a:r>
            <a:r>
              <a:rPr lang="en-US" sz="2400" dirty="0"/>
              <a:t> Children had an especially delicate touch as spinners of cotton. Their smaller size made it easier for them to crawl under machines to gather loose cotton. </a:t>
            </a:r>
          </a:p>
          <a:p>
            <a:pPr algn="just" fontAlgn="base"/>
            <a:r>
              <a:rPr lang="en-US" sz="2400" dirty="0"/>
              <a:t>Children represented a cheap supply of labor. In 1821, they were paid only about one-sixth or one-third of what a man was paid.</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Women and child labor </a:t>
            </a:r>
          </a:p>
        </p:txBody>
      </p:sp>
      <p:pic>
        <p:nvPicPr>
          <p:cNvPr id="5" name="Picture 4">
            <a:extLst>
              <a:ext uri="{FF2B5EF4-FFF2-40B4-BE49-F238E27FC236}">
                <a16:creationId xmlns:a16="http://schemas.microsoft.com/office/drawing/2014/main" id="{B824C9CE-4888-B438-00D7-F011107C1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7400" y="2174487"/>
            <a:ext cx="2057399" cy="4188213"/>
          </a:xfrm>
          <a:prstGeom prst="rect">
            <a:avLst/>
          </a:prstGeom>
        </p:spPr>
      </p:pic>
    </p:spTree>
    <p:extLst>
      <p:ext uri="{BB962C8B-B14F-4D97-AF65-F5344CB8AC3E}">
        <p14:creationId xmlns:p14="http://schemas.microsoft.com/office/powerpoint/2010/main" val="3927350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1940315"/>
            <a:ext cx="6768786" cy="4003288"/>
          </a:xfrm>
        </p:spPr>
        <p:txBody>
          <a:bodyPr>
            <a:noAutofit/>
          </a:bodyPr>
          <a:lstStyle/>
          <a:p>
            <a:pPr algn="just" fontAlgn="base"/>
            <a:r>
              <a:rPr lang="en-US" sz="2400" dirty="0"/>
              <a:t>Accommodation, sanitation, and health were not provided adequately.</a:t>
            </a:r>
          </a:p>
          <a:p>
            <a:pPr algn="just" fontAlgn="base"/>
            <a:endParaRPr lang="en-US" sz="2400" dirty="0"/>
          </a:p>
          <a:p>
            <a:pPr algn="just" fontAlgn="base"/>
            <a:r>
              <a:rPr lang="en-US" sz="2400" dirty="0"/>
              <a:t> Sickness and crime prevailed. </a:t>
            </a:r>
          </a:p>
        </p:txBody>
      </p:sp>
      <p:sp>
        <p:nvSpPr>
          <p:cNvPr id="4" name="Content Placeholder 2"/>
          <p:cNvSpPr txBox="1">
            <a:spLocks/>
          </p:cNvSpPr>
          <p:nvPr/>
        </p:nvSpPr>
        <p:spPr>
          <a:xfrm>
            <a:off x="1929167" y="880947"/>
            <a:ext cx="2765495"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000" b="1" dirty="0"/>
              <a:t>New Social Problems</a:t>
            </a:r>
          </a:p>
        </p:txBody>
      </p:sp>
    </p:spTree>
    <p:extLst>
      <p:ext uri="{BB962C8B-B14F-4D97-AF65-F5344CB8AC3E}">
        <p14:creationId xmlns:p14="http://schemas.microsoft.com/office/powerpoint/2010/main" val="22300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174488"/>
            <a:ext cx="6768786" cy="4003288"/>
          </a:xfrm>
        </p:spPr>
        <p:txBody>
          <a:bodyPr>
            <a:normAutofit/>
          </a:bodyPr>
          <a:lstStyle/>
          <a:p>
            <a:pPr algn="just" fontAlgn="base"/>
            <a:r>
              <a:rPr lang="en-US" sz="2800" dirty="0"/>
              <a:t>The establishment of the factory system increased the amount of money in circulation. However , money concentrated in the hands of a few people.</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sz="2400" b="1" dirty="0"/>
              <a:t>Monopoly Capitalism</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4798" y="1714500"/>
            <a:ext cx="2857500" cy="4343400"/>
          </a:xfrm>
          <a:prstGeom prst="rect">
            <a:avLst/>
          </a:prstGeom>
        </p:spPr>
      </p:pic>
    </p:spTree>
    <p:extLst>
      <p:ext uri="{BB962C8B-B14F-4D97-AF65-F5344CB8AC3E}">
        <p14:creationId xmlns:p14="http://schemas.microsoft.com/office/powerpoint/2010/main" val="1949345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174488"/>
            <a:ext cx="6768786" cy="4003288"/>
          </a:xfrm>
        </p:spPr>
        <p:txBody>
          <a:bodyPr/>
          <a:lstStyle/>
          <a:p>
            <a:pPr algn="just" fontAlgn="base"/>
            <a:r>
              <a:rPr lang="en-US" dirty="0"/>
              <a:t>Two distinct group emerged</a:t>
            </a:r>
          </a:p>
          <a:p>
            <a:pPr algn="just" fontAlgn="base">
              <a:buAutoNum type="arabicPeriod"/>
            </a:pPr>
            <a:r>
              <a:rPr lang="en-US" dirty="0"/>
              <a:t>the rich middle class ( bourgeoisie): composed of manufacturers, merchants , mine owners, bank owners, and professional men, on the one hand, </a:t>
            </a:r>
          </a:p>
          <a:p>
            <a:pPr algn="just" fontAlgn="base">
              <a:buAutoNum type="arabicPeriod"/>
            </a:pPr>
            <a:endParaRPr lang="en-US" dirty="0"/>
          </a:p>
          <a:p>
            <a:pPr algn="just" fontAlgn="base">
              <a:buAutoNum type="arabicPeriod"/>
            </a:pPr>
            <a:r>
              <a:rPr lang="en-US" dirty="0"/>
              <a:t>The wage-earning class (proletariat): composed of mill workers and factory workers, on the other . This gap between employer and employee gave rise to many economic and social problems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Inequality and class struggle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1834" y="2386361"/>
            <a:ext cx="3010829" cy="2798956"/>
          </a:xfrm>
          <a:prstGeom prst="rect">
            <a:avLst/>
          </a:prstGeom>
        </p:spPr>
      </p:pic>
    </p:spTree>
    <p:extLst>
      <p:ext uri="{BB962C8B-B14F-4D97-AF65-F5344CB8AC3E}">
        <p14:creationId xmlns:p14="http://schemas.microsoft.com/office/powerpoint/2010/main" val="2674815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174488"/>
            <a:ext cx="6768786" cy="4003288"/>
          </a:xfrm>
        </p:spPr>
        <p:txBody>
          <a:bodyPr/>
          <a:lstStyle/>
          <a:p>
            <a:pPr fontAlgn="base"/>
            <a:r>
              <a:rPr lang="en-US" dirty="0"/>
              <a:t>According to Marx, the structure of capitalism creates alienation. In a industrial society workers confront for type of alienation. </a:t>
            </a:r>
          </a:p>
          <a:p>
            <a:pPr fontAlgn="base"/>
            <a:endParaRPr lang="en-US" dirty="0"/>
          </a:p>
          <a:p>
            <a:pPr fontAlgn="base"/>
            <a:r>
              <a:rPr lang="en-US" dirty="0"/>
              <a:t>Alienation from product: The product does not belong to them.</a:t>
            </a:r>
          </a:p>
          <a:p>
            <a:pPr fontAlgn="base"/>
            <a:r>
              <a:rPr lang="en-US" dirty="0"/>
              <a:t>Alienation from productive activity</a:t>
            </a:r>
          </a:p>
          <a:p>
            <a:pPr fontAlgn="base"/>
            <a:r>
              <a:rPr lang="en-US" dirty="0"/>
              <a:t>Alienation from him/herself</a:t>
            </a:r>
          </a:p>
          <a:p>
            <a:pPr fontAlgn="base"/>
            <a:r>
              <a:rPr lang="en-US" dirty="0"/>
              <a:t>Alienation from the community/fellows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Alienation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545" y="2297151"/>
            <a:ext cx="4094691" cy="3401122"/>
          </a:xfrm>
          <a:prstGeom prst="rect">
            <a:avLst/>
          </a:prstGeom>
        </p:spPr>
      </p:pic>
    </p:spTree>
    <p:extLst>
      <p:ext uri="{BB962C8B-B14F-4D97-AF65-F5344CB8AC3E}">
        <p14:creationId xmlns:p14="http://schemas.microsoft.com/office/powerpoint/2010/main" val="2422567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Negative Impact of  on Society</a:t>
            </a:r>
          </a:p>
        </p:txBody>
      </p:sp>
      <p:sp>
        <p:nvSpPr>
          <p:cNvPr id="3" name="Content Placeholder 2"/>
          <p:cNvSpPr>
            <a:spLocks noGrp="1"/>
          </p:cNvSpPr>
          <p:nvPr>
            <p:ph idx="1"/>
          </p:nvPr>
        </p:nvSpPr>
        <p:spPr>
          <a:xfrm>
            <a:off x="1282394" y="2787803"/>
            <a:ext cx="6768786" cy="4036742"/>
          </a:xfrm>
        </p:spPr>
        <p:txBody>
          <a:bodyPr>
            <a:normAutofit/>
          </a:bodyPr>
          <a:lstStyle/>
          <a:p>
            <a:pPr algn="just" fontAlgn="base"/>
            <a:r>
              <a:rPr lang="en-US" sz="2400" dirty="0"/>
              <a:t>The Industrial Revolution had strengthened colonialism because the colonies were useful to obtain raw materials and sell the finished products. So, larger territories were captured thus paving way for imperialism.</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Colonialism &amp; imperialism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3305" y="2240929"/>
            <a:ext cx="3229718" cy="3167411"/>
          </a:xfrm>
          <a:prstGeom prst="rect">
            <a:avLst/>
          </a:prstGeom>
        </p:spPr>
      </p:pic>
    </p:spTree>
    <p:extLst>
      <p:ext uri="{BB962C8B-B14F-4D97-AF65-F5344CB8AC3E}">
        <p14:creationId xmlns:p14="http://schemas.microsoft.com/office/powerpoint/2010/main" val="3957922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1896" y="412595"/>
            <a:ext cx="5497548" cy="1338146"/>
          </a:xfrm>
        </p:spPr>
        <p:txBody>
          <a:bodyPr>
            <a:normAutofit/>
          </a:bodyPr>
          <a:lstStyle/>
          <a:p>
            <a:pPr fontAlgn="base"/>
            <a:r>
              <a:rPr lang="en-US" b="1" dirty="0"/>
              <a:t>Environmental Impact</a:t>
            </a:r>
          </a:p>
        </p:txBody>
      </p:sp>
      <p:sp>
        <p:nvSpPr>
          <p:cNvPr id="3" name="Content Placeholder 2"/>
          <p:cNvSpPr>
            <a:spLocks noGrp="1"/>
          </p:cNvSpPr>
          <p:nvPr>
            <p:ph idx="1"/>
          </p:nvPr>
        </p:nvSpPr>
        <p:spPr>
          <a:xfrm>
            <a:off x="1282394" y="1494265"/>
            <a:ext cx="6768786" cy="4036742"/>
          </a:xfrm>
        </p:spPr>
        <p:txBody>
          <a:bodyPr>
            <a:normAutofit/>
          </a:bodyPr>
          <a:lstStyle/>
          <a:p>
            <a:pPr fontAlgn="base"/>
            <a:r>
              <a:rPr lang="en-US" sz="2000" dirty="0"/>
              <a:t>The Industrial Revolution was powered by burning coal, and big industrial cities began pumping vast quantities of pollution into the atmosphere.</a:t>
            </a:r>
          </a:p>
          <a:p>
            <a:pPr fontAlgn="base"/>
            <a:r>
              <a:rPr lang="en-US" sz="2000" dirty="0"/>
              <a:t>Air pollution continued to rise in the 1800s, causing respiratory illness and higher death rates in areas that burned more coal.</a:t>
            </a:r>
          </a:p>
          <a:p>
            <a:pPr fontAlgn="base"/>
            <a:r>
              <a:rPr lang="en-US" sz="2000" dirty="0"/>
              <a:t> The burning of fossil fuel pumped carbon into the atmosphere. </a:t>
            </a:r>
          </a:p>
          <a:p>
            <a:pPr fontAlgn="base"/>
            <a:r>
              <a:rPr lang="en-US" sz="2000" dirty="0"/>
              <a:t>Study suggests that climate change driven by human activity began as early as the 1830s.</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8452" y="1438506"/>
            <a:ext cx="3512631" cy="3624146"/>
          </a:xfrm>
          <a:prstGeom prst="rect">
            <a:avLst/>
          </a:prstGeom>
        </p:spPr>
      </p:pic>
    </p:spTree>
    <p:extLst>
      <p:ext uri="{BB962C8B-B14F-4D97-AF65-F5344CB8AC3E}">
        <p14:creationId xmlns:p14="http://schemas.microsoft.com/office/powerpoint/2010/main" val="1444334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172" y="412595"/>
            <a:ext cx="4560851" cy="1973766"/>
          </a:xfrm>
        </p:spPr>
        <p:txBody>
          <a:bodyPr>
            <a:normAutofit/>
          </a:bodyPr>
          <a:lstStyle/>
          <a:p>
            <a:pPr fontAlgn="base"/>
            <a:r>
              <a:rPr lang="en-US" b="1" dirty="0"/>
              <a:t>Social Reform</a:t>
            </a:r>
          </a:p>
        </p:txBody>
      </p:sp>
      <p:sp>
        <p:nvSpPr>
          <p:cNvPr id="3" name="Content Placeholder 2"/>
          <p:cNvSpPr>
            <a:spLocks noGrp="1"/>
          </p:cNvSpPr>
          <p:nvPr>
            <p:ph idx="1"/>
          </p:nvPr>
        </p:nvSpPr>
        <p:spPr>
          <a:xfrm>
            <a:off x="1282394" y="2174488"/>
            <a:ext cx="6768786" cy="4003288"/>
          </a:xfrm>
        </p:spPr>
        <p:txBody>
          <a:bodyPr>
            <a:normAutofit/>
          </a:bodyPr>
          <a:lstStyle/>
          <a:p>
            <a:pPr algn="just" fontAlgn="base"/>
            <a:r>
              <a:rPr lang="en-US" sz="2400" dirty="0"/>
              <a:t> Many factory laws were enacted to improve the lot of the workers between 1833-45 which tried to limit the working hours for children under eleven years of age to nine hours a day and that of women to 12 hours a day.</a:t>
            </a:r>
          </a:p>
          <a:p>
            <a:pPr algn="just" fontAlgn="base"/>
            <a:r>
              <a:rPr lang="en-US" sz="2400" dirty="0"/>
              <a:t> These Acts also prohibited employment of children in mines and laid down general rules for the health and safety of workers.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r>
              <a:rPr lang="en-US" b="1" dirty="0"/>
              <a:t>Social Reform Acts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4567" y="2286000"/>
            <a:ext cx="3612994" cy="3757961"/>
          </a:xfrm>
          <a:prstGeom prst="rect">
            <a:avLst/>
          </a:prstGeom>
        </p:spPr>
      </p:pic>
    </p:spTree>
    <p:extLst>
      <p:ext uri="{BB962C8B-B14F-4D97-AF65-F5344CB8AC3E}">
        <p14:creationId xmlns:p14="http://schemas.microsoft.com/office/powerpoint/2010/main" val="4000749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1467" y="412595"/>
            <a:ext cx="4560851" cy="1973766"/>
          </a:xfrm>
        </p:spPr>
        <p:txBody>
          <a:bodyPr>
            <a:normAutofit/>
          </a:bodyPr>
          <a:lstStyle/>
          <a:p>
            <a:pPr fontAlgn="base"/>
            <a:r>
              <a:rPr lang="en-US" b="1" dirty="0"/>
              <a:t>Socialism</a:t>
            </a:r>
          </a:p>
        </p:txBody>
      </p:sp>
      <p:sp>
        <p:nvSpPr>
          <p:cNvPr id="3" name="Content Placeholder 2"/>
          <p:cNvSpPr>
            <a:spLocks noGrp="1"/>
          </p:cNvSpPr>
          <p:nvPr>
            <p:ph idx="1"/>
          </p:nvPr>
        </p:nvSpPr>
        <p:spPr>
          <a:xfrm>
            <a:off x="1282394" y="1817649"/>
            <a:ext cx="6768786" cy="4360127"/>
          </a:xfrm>
        </p:spPr>
        <p:txBody>
          <a:bodyPr>
            <a:noAutofit/>
          </a:bodyPr>
          <a:lstStyle/>
          <a:p>
            <a:r>
              <a:rPr lang="en-US" sz="2400" dirty="0"/>
              <a:t>The spirit of public welfares and efforts for improving the condition of workers led the socialist movement. </a:t>
            </a:r>
          </a:p>
          <a:p>
            <a:r>
              <a:rPr lang="en-US" sz="2400" dirty="0"/>
              <a:t>Socialism aimed at establishing equality in society.</a:t>
            </a:r>
          </a:p>
          <a:p>
            <a:endParaRPr lang="en-US" sz="2400" dirty="0"/>
          </a:p>
          <a:p>
            <a:r>
              <a:rPr lang="en-US" sz="2400" dirty="0"/>
              <a:t>The ultimate goal of socialism was to eliminate class struggle and form a classless society.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56" y="1817649"/>
            <a:ext cx="3757961" cy="4002173"/>
          </a:xfrm>
          <a:prstGeom prst="rect">
            <a:avLst/>
          </a:prstGeom>
        </p:spPr>
      </p:pic>
    </p:spTree>
    <p:extLst>
      <p:ext uri="{BB962C8B-B14F-4D97-AF65-F5344CB8AC3E}">
        <p14:creationId xmlns:p14="http://schemas.microsoft.com/office/powerpoint/2010/main" val="800388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4665" y="2520174"/>
            <a:ext cx="4560851" cy="1962615"/>
          </a:xfrm>
        </p:spPr>
        <p:txBody>
          <a:bodyPr>
            <a:normAutofit/>
          </a:bodyPr>
          <a:lstStyle/>
          <a:p>
            <a:r>
              <a:rPr lang="en-US" dirty="0"/>
              <a:t>Thank You </a:t>
            </a:r>
          </a:p>
        </p:txBody>
      </p:sp>
      <p:sp>
        <p:nvSpPr>
          <p:cNvPr id="4" name="Content Placeholder 2"/>
          <p:cNvSpPr txBox="1">
            <a:spLocks/>
          </p:cNvSpPr>
          <p:nvPr/>
        </p:nvSpPr>
        <p:spPr>
          <a:xfrm>
            <a:off x="1929168" y="880947"/>
            <a:ext cx="1761886" cy="11931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base">
              <a:buNone/>
            </a:pPr>
            <a:endParaRPr lang="en-US" b="1" dirty="0"/>
          </a:p>
        </p:txBody>
      </p:sp>
    </p:spTree>
    <p:extLst>
      <p:ext uri="{BB962C8B-B14F-4D97-AF65-F5344CB8AC3E}">
        <p14:creationId xmlns:p14="http://schemas.microsoft.com/office/powerpoint/2010/main" val="5145489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163</TotalTime>
  <Words>1198</Words>
  <Application>Microsoft Office PowerPoint</Application>
  <PresentationFormat>Widescreen</PresentationFormat>
  <Paragraphs>95</Paragraphs>
  <Slides>22</Slides>
  <Notes>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Century Gothic</vt:lpstr>
      <vt:lpstr>Hiroshige-BookItalic</vt:lpstr>
      <vt:lpstr>Wingdings</vt:lpstr>
      <vt:lpstr>Wingdings 3</vt:lpstr>
      <vt:lpstr>Wisp</vt:lpstr>
      <vt:lpstr>Industrial Revolution</vt:lpstr>
      <vt:lpstr>First industrial Revolution: Coal in 1765</vt:lpstr>
      <vt:lpstr>Second Industrial Revolution: Gas in 1870</vt:lpstr>
      <vt:lpstr>Third Industrial Revolution: Electronics and Nuclear in 1969</vt:lpstr>
      <vt:lpstr>Fourth Industrial Revolution: Internet and Renewable Energy in 2000</vt:lpstr>
      <vt:lpstr>Fifth Industrial Revolution</vt:lpstr>
      <vt:lpstr>Impact of Industrial Revolution on Society</vt:lpstr>
      <vt:lpstr>Impact of Industrial Revolution on Society</vt:lpstr>
      <vt:lpstr>Impact of Industrial Revolution on Society</vt:lpstr>
      <vt:lpstr>Impact of Industrial Revolution on Society</vt:lpstr>
      <vt:lpstr>Negative Impact of  on Society</vt:lpstr>
      <vt:lpstr>Negative Impact of  on Society</vt:lpstr>
      <vt:lpstr>Negative Impact of  on Society</vt:lpstr>
      <vt:lpstr>Negative Impact of  on Society</vt:lpstr>
      <vt:lpstr>Negative Impact of  on Society</vt:lpstr>
      <vt:lpstr>Negative Impact of  on Society</vt:lpstr>
      <vt:lpstr>Negative Impact of  on Society</vt:lpstr>
      <vt:lpstr>Negative Impact of  on Society</vt:lpstr>
      <vt:lpstr>Environmental Impact</vt:lpstr>
      <vt:lpstr>Social Reform</vt:lpstr>
      <vt:lpstr>Socialism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Revolution</dc:title>
  <dc:creator>USER</dc:creator>
  <cp:lastModifiedBy>Ms. Taniah Mahmuda Tinni</cp:lastModifiedBy>
  <cp:revision>22</cp:revision>
  <dcterms:created xsi:type="dcterms:W3CDTF">2024-02-01T16:45:23Z</dcterms:created>
  <dcterms:modified xsi:type="dcterms:W3CDTF">2024-06-23T06:42:22Z</dcterms:modified>
</cp:coreProperties>
</file>